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7718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900000">
            <a:off x="4728924" y="322220"/>
            <a:ext cx="2470034" cy="62590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3" name="Shape 1"/>
          <p:cNvSpPr/>
          <p:nvPr/>
        </p:nvSpPr>
        <p:spPr>
          <a:xfrm rot="-900000">
            <a:off x="5450474" y="365759"/>
            <a:ext cx="2743200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 rot="-900000">
            <a:off x="6982096" y="288217"/>
            <a:ext cx="2194560" cy="36576"/>
          </a:xfrm>
          <a:prstGeom prst="rect">
            <a:avLst/>
          </a:prstGeom>
          <a:solidFill>
            <a:srgbClr val="A855F7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900000">
            <a:off x="1251481" y="4178029"/>
            <a:ext cx="3200400" cy="73152"/>
          </a:xfrm>
          <a:prstGeom prst="rect">
            <a:avLst/>
          </a:prstGeom>
          <a:solidFill>
            <a:srgbClr val="00C4E8">
              <a:alpha val="40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 rot="-900000">
            <a:off x="3357666" y="4090581"/>
            <a:ext cx="2286000" cy="45720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29300" y="585392"/>
            <a:ext cx="3200400" cy="3200400"/>
          </a:xfrm>
          <a:prstGeom prst="ellipse">
            <a:avLst/>
          </a:prstGeom>
          <a:solidFill>
            <a:srgbClr val="00C4E8">
              <a:alpha val="7000"/>
            </a:srgbClr>
          </a:solidFill>
          <a:ln w="6350">
            <a:solidFill>
              <a:srgbClr val="00C4E8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1" y="1051254"/>
            <a:ext cx="2286000" cy="2286000"/>
          </a:xfrm>
          <a:prstGeom prst="ellipse">
            <a:avLst/>
          </a:prstGeom>
          <a:solidFill>
            <a:srgbClr val="7C3AED">
              <a:alpha val="8000"/>
            </a:srgbClr>
          </a:solidFill>
          <a:ln w="635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640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143000" y="502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kern="0" spc="4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NAVIKA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1143000" y="1417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00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RAG-Driven Personal Finance Intelligence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943600" cy="2743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574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platform that combines FAISS vector search, sentence-transformer embeddings, and Google Gemini to deliver real-time, evidence-grounded financial risk analysis — built for the era of intelligent personal finance.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2016252" cy="292608"/>
          </a:xfrm>
          <a:prstGeom prst="rect">
            <a:avLst/>
          </a:prstGeom>
          <a:solidFill>
            <a:srgbClr val="00C4E8">
              <a:alpha val="15000"/>
            </a:srgbClr>
          </a:solidFill>
          <a:ln w="12700">
            <a:solidFill>
              <a:srgbClr val="00C4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200400"/>
            <a:ext cx="20162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Vector Search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83180" y="3200400"/>
            <a:ext cx="1234440" cy="292608"/>
          </a:xfrm>
          <a:prstGeom prst="rect">
            <a:avLst/>
          </a:prstGeom>
          <a:solidFill>
            <a:srgbClr val="A855F7">
              <a:alpha val="15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3180" y="3200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LLM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927348" y="3200400"/>
            <a:ext cx="1408176" cy="292608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27348" y="3200400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OAuth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45252" y="3200400"/>
            <a:ext cx="1755648" cy="292608"/>
          </a:xfrm>
          <a:prstGeom prst="rect">
            <a:avLst/>
          </a:prstGeom>
          <a:solidFill>
            <a:srgbClr val="0EA5E9">
              <a:alpha val="15000"/>
            </a:srgbClr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5252" y="3200400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 Framework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" y="4234329"/>
            <a:ext cx="9144000" cy="937260"/>
          </a:xfrm>
          <a:prstGeom prst="rect">
            <a:avLst/>
          </a:prstGeom>
          <a:solidFill>
            <a:srgbClr val="0D1B35"/>
          </a:solidFill>
          <a:ln/>
        </p:spPr>
      </p:sp>
      <p:sp>
        <p:nvSpPr>
          <p:cNvPr id="23" name="Text 21"/>
          <p:cNvSpPr/>
          <p:nvPr/>
        </p:nvSpPr>
        <p:spPr>
          <a:xfrm>
            <a:off x="379827" y="3656164"/>
            <a:ext cx="2904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Leader: Nitanshu Tak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Member: Bhavika 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46177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Dashboard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194560" y="43159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RAG+LLM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194560" y="46177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931920" y="43159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JWT Auth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31920" y="46177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OAuth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0" y="43159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FAISS Index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46177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384-dim Embeds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406640" y="431596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MIT License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406640" y="46177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920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github.com/Nitanshu715/Navika  •  navika-gold-book.reflex.run</a:t>
            </a:r>
            <a:endParaRPr lang="en-US" sz="9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BA1AFB-0036-934C-A226-26033E10B5AA}"/>
              </a:ext>
            </a:extLst>
          </p:cNvPr>
          <p:cNvSpPr txBox="1"/>
          <p:nvPr/>
        </p:nvSpPr>
        <p:spPr>
          <a:xfrm>
            <a:off x="-117288" y="4309943"/>
            <a:ext cx="26675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Tabs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Personal finance apps fail people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2103120"/>
          </a:xfrm>
          <a:prstGeom prst="rect">
            <a:avLst/>
          </a:prstGeom>
          <a:solidFill>
            <a:srgbClr val="0B1829"/>
          </a:solidFill>
          <a:ln w="1905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27432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77%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people feel their finance app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data but gives no guidance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20440" y="1234440"/>
            <a:ext cx="5303520" cy="713232"/>
          </a:xfrm>
          <a:prstGeom prst="rect">
            <a:avLst/>
          </a:prstGeom>
          <a:solidFill>
            <a:srgbClr val="0F2035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234440"/>
            <a:ext cx="54864" cy="71323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703320" y="1307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Context-Aware Analysis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03320" y="15544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apps show charts and numbers but cannot answer 'Why am I overspending on food?' — they lack AI reasoning over your specific data.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20440" y="2057400"/>
            <a:ext cx="5303520" cy="713232"/>
          </a:xfrm>
          <a:prstGeom prst="rect">
            <a:avLst/>
          </a:prstGeom>
          <a:solidFill>
            <a:srgbClr val="0F2035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0440" y="2057400"/>
            <a:ext cx="54864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3703320" y="213055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Advice, Not Yours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chatbots give textbook financial advice disconnected from your actual transaction patterns — they hallucinate recommendations.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2880360"/>
            <a:ext cx="5303520" cy="713232"/>
          </a:xfrm>
          <a:prstGeom prst="rect">
            <a:avLst/>
          </a:prstGeom>
          <a:solidFill>
            <a:srgbClr val="0F2035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880360"/>
            <a:ext cx="54864" cy="7132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9" name="Text 17"/>
          <p:cNvSpPr/>
          <p:nvPr/>
        </p:nvSpPr>
        <p:spPr>
          <a:xfrm>
            <a:off x="3703320" y="295351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Anomaly Intelligence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03320" y="32004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system that automatically flags suspicious spending spikes using your personal baseline — anomalies go unnoticed.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27939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"People don't need another app that shows them a pie chart. They need an AI that reads their data and explains the risk."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Navika: Intelligence, not just 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solidFill>
            <a:srgbClr val="0B1829"/>
          </a:solidFill>
          <a:ln w="12700">
            <a:solidFill>
              <a:srgbClr val="00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54864" cy="685800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Navika is the first personal finance platform to use Retrieval-Augmented Generation (RAG) to answer financial questions using your own transaction history as the knowledge base — not general training data. Every AI answer is grounded in real evidence from your spending.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4114800" cy="1188720"/>
          </a:xfrm>
          <a:prstGeom prst="rect">
            <a:avLst/>
          </a:prstGeom>
          <a:solidFill>
            <a:srgbClr val="0F2035"/>
          </a:solidFill>
          <a:ln w="12700">
            <a:solidFill>
              <a:srgbClr val="00C4E8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2075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4688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search retrieves your most relevant past transactions before every AI query — grounding responses in real data.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1965960"/>
            <a:ext cx="4114800" cy="1188720"/>
          </a:xfrm>
          <a:prstGeom prst="rect">
            <a:avLst/>
          </a:prstGeom>
          <a:solidFill>
            <a:srgbClr val="0F2035"/>
          </a:solidFill>
          <a:ln w="12700">
            <a:solidFill>
              <a:srgbClr val="A855F7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2075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40680" y="2075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AI Analysis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24688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analyzes retrieved context + statistics to return structured risk_level, observations, and actionable recommendations.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4114800" cy="1188720"/>
          </a:xfrm>
          <a:prstGeom prst="rect">
            <a:avLst/>
          </a:prstGeom>
          <a:solidFill>
            <a:srgbClr val="0F2035"/>
          </a:solidFill>
          <a:ln w="1270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097280" y="34472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 Detection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840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statistical analysis identifies spending anomalies automatically across your entire transaction history.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3337560"/>
            <a:ext cx="4114800" cy="1188720"/>
          </a:xfrm>
          <a:prstGeom prst="rect">
            <a:avLst/>
          </a:prstGeom>
          <a:solidFill>
            <a:srgbClr val="0F2035"/>
          </a:solidFill>
          <a:ln w="12700">
            <a:solidFill>
              <a:srgbClr val="F59E0B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3776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440680" y="34472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Auth System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3840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auth: email verification, Google OAuth, password reset, JWT sessions — complete user isolation.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RAG Intelligence Pipeline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1554480" cy="2560320"/>
          </a:xfrm>
          <a:prstGeom prst="rect">
            <a:avLst/>
          </a:prstGeom>
          <a:solidFill>
            <a:srgbClr val="0B1829"/>
          </a:solidFill>
          <a:ln w="19050">
            <a:solidFill>
              <a:srgbClr val="00C4E8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005840"/>
            <a:ext cx="548640" cy="548640"/>
          </a:xfrm>
          <a:prstGeom prst="ellipse">
            <a:avLst/>
          </a:prstGeom>
          <a:solidFill>
            <a:srgbClr val="00C4E8"/>
          </a:solidFill>
          <a:ln w="12700">
            <a:solidFill>
              <a:srgbClr val="00C4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005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74320" y="16916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84832"/>
            <a:ext cx="1005840" cy="27432"/>
          </a:xfrm>
          <a:prstGeom prst="rect">
            <a:avLst/>
          </a:prstGeom>
          <a:solidFill>
            <a:srgbClr val="00C4E8">
              <a:alpha val="4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76272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added via form or random generator. Saved to SQLite finance.db.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28800" y="2423160"/>
            <a:ext cx="68580" cy="36576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1897380" y="1188720"/>
            <a:ext cx="1554480" cy="2560320"/>
          </a:xfrm>
          <a:prstGeom prst="rect">
            <a:avLst/>
          </a:prstGeom>
          <a:solidFill>
            <a:srgbClr val="0B1829"/>
          </a:solidFill>
          <a:ln w="19050">
            <a:solidFill>
              <a:srgbClr val="0EA5E9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00300" y="1005840"/>
            <a:ext cx="548640" cy="54864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0300" y="1005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97380" y="16916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EA5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EMBED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71700" y="2084832"/>
            <a:ext cx="1005840" cy="27432"/>
          </a:xfrm>
          <a:prstGeom prst="rect">
            <a:avLst/>
          </a:prstGeom>
          <a:solidFill>
            <a:srgbClr val="0EA5E9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1988820" y="2176272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SentenceTransformer all-MiniLM-L6-v2 encodes transaction text to 384-dim vector.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51860" y="2423160"/>
            <a:ext cx="685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0440" y="1188720"/>
            <a:ext cx="1554480" cy="2560320"/>
          </a:xfrm>
          <a:prstGeom prst="rect">
            <a:avLst/>
          </a:prstGeom>
          <a:solidFill>
            <a:srgbClr val="0B1829"/>
          </a:solidFill>
          <a:ln w="1905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023360" y="1005840"/>
            <a:ext cx="548640" cy="54864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23360" y="1005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520440" y="16916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INDEX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94760" y="2084832"/>
            <a:ext cx="1005840" cy="27432"/>
          </a:xfrm>
          <a:prstGeom prst="rect">
            <a:avLst/>
          </a:prstGeom>
          <a:solidFill>
            <a:srgbClr val="A855F7">
              <a:alpha val="4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611880" y="2176272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IndexFlatL2 stores embedding. Supports live incremental add — no rebuild needed.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74920" y="2423160"/>
            <a:ext cx="6858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5143500" y="1188720"/>
            <a:ext cx="1554480" cy="2560320"/>
          </a:xfrm>
          <a:prstGeom prst="rect">
            <a:avLst/>
          </a:prstGeom>
          <a:solidFill>
            <a:srgbClr val="0B1829"/>
          </a:solidFill>
          <a:ln w="190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646420" y="100584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46420" y="1005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143500" y="16916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RETRIEVE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17820" y="2084832"/>
            <a:ext cx="1005840" cy="27432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234940" y="2176272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 encoded → top-5 nearest vectors found via L2 similarity search.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97980" y="2423160"/>
            <a:ext cx="6858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3" name="Shape 31"/>
          <p:cNvSpPr/>
          <p:nvPr/>
        </p:nvSpPr>
        <p:spPr>
          <a:xfrm>
            <a:off x="6766560" y="1188720"/>
            <a:ext cx="1554480" cy="2560320"/>
          </a:xfrm>
          <a:prstGeom prst="rect">
            <a:avLst/>
          </a:prstGeom>
          <a:solidFill>
            <a:srgbClr val="0B1829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69480" y="100584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1005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766560" y="16916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040880" y="2084832"/>
            <a:ext cx="1005840" cy="27432"/>
          </a:xfrm>
          <a:prstGeom prst="rect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2176272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receives retrieved context + stats. Returns structured JSON risk analysis.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3977640"/>
            <a:ext cx="8595360" cy="82296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0782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417320" y="405993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"risk_level": "High",  "main_issue": "Food spending 3x above average",  "key_observations": ["Swiggy: ₹8,500 in 3 days", ...],  "recommended_actions": ["Set daily food budget ₹500", ...] }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Everything in one platform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788920" cy="1737360"/>
          </a:xfrm>
          <a:prstGeom prst="rect">
            <a:avLst/>
          </a:prstGeom>
          <a:solidFill>
            <a:srgbClr val="0F2035"/>
          </a:solidFill>
          <a:ln w="12700">
            <a:solidFill>
              <a:srgbClr val="00C4E8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54864" cy="1737360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252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  Dashboard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 cards, category breakdown bars, risk badge, and recent transaction table. Real-time updates on every transaction add.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7832" y="1143000"/>
            <a:ext cx="2788920" cy="1737360"/>
          </a:xfrm>
          <a:prstGeom prst="rect">
            <a:avLst/>
          </a:prstGeom>
          <a:solidFill>
            <a:srgbClr val="0F2035"/>
          </a:solidFill>
          <a:ln w="12700">
            <a:solidFill>
              <a:srgbClr val="A855F7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27832" y="1143000"/>
            <a:ext cx="54864" cy="173736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3364992" y="1252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AI Insights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64992" y="150876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RAG-powered Q&amp;A with your data. See retrieved evidence on the left, Gemini's structured risk analysis on the right.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81344" y="1143000"/>
            <a:ext cx="2788920" cy="1737360"/>
          </a:xfrm>
          <a:prstGeom prst="rect">
            <a:avLst/>
          </a:prstGeom>
          <a:solidFill>
            <a:srgbClr val="0F2035"/>
          </a:solidFill>
          <a:ln w="1270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1143000"/>
            <a:ext cx="54864" cy="1737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318504" y="1252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  Transactions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18504" y="150876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ledger with category filter buttons (All/Food/Shopping/Transport/Entertainment). Filterable transaction history.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063240"/>
            <a:ext cx="2788920" cy="1737360"/>
          </a:xfrm>
          <a:prstGeom prst="rect">
            <a:avLst/>
          </a:prstGeom>
          <a:solidFill>
            <a:srgbClr val="0F2035"/>
          </a:solidFill>
          <a:ln w="12700">
            <a:solidFill>
              <a:srgbClr val="F59E0B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063240"/>
            <a:ext cx="54864" cy="1737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172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Anomaly Detection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34290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statistical analysis flags outliers. Each anomaly displayed as an individual alert card with detection methodology.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27832" y="3063240"/>
            <a:ext cx="2788920" cy="1737360"/>
          </a:xfrm>
          <a:prstGeom prst="rect">
            <a:avLst/>
          </a:prstGeom>
          <a:solidFill>
            <a:srgbClr val="0F2035"/>
          </a:solidFill>
          <a:ln w="12700">
            <a:solidFill>
              <a:srgbClr val="0EA5E9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27832" y="3063240"/>
            <a:ext cx="54864" cy="173736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21"/>
          <p:cNvSpPr/>
          <p:nvPr/>
        </p:nvSpPr>
        <p:spPr>
          <a:xfrm>
            <a:off x="3364992" y="3172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 Add Data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64992" y="34290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random transaction generator + custom merchant/category/amount form. Pipeline architecture diagram included.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3063240"/>
            <a:ext cx="2788920" cy="1737360"/>
          </a:xfrm>
          <a:prstGeom prst="rect">
            <a:avLst/>
          </a:prstGeom>
          <a:solidFill>
            <a:srgbClr val="0F2035"/>
          </a:solidFill>
          <a:ln w="12700">
            <a:solidFill>
              <a:srgbClr val="7C3AED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81344" y="3063240"/>
            <a:ext cx="54864" cy="17373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6318504" y="3172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⚿  Auth System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18504" y="34290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signup with verification, Google OAuth 2.0, forgot password reset, JWT sessions — full production auth.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with production-grade tools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5303520" cy="658368"/>
          </a:xfrm>
          <a:prstGeom prst="rect">
            <a:avLst/>
          </a:prstGeom>
          <a:solidFill>
            <a:srgbClr val="0B1829"/>
          </a:solidFill>
          <a:ln w="12700">
            <a:solidFill>
              <a:srgbClr val="00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54864" cy="658368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527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/ UI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0.8 — Python-native reactive web framework. Zero JavaScript. Compiles to React.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938528"/>
            <a:ext cx="5303520" cy="658368"/>
          </a:xfrm>
          <a:prstGeom prst="rect">
            <a:avLst/>
          </a:prstGeom>
          <a:solidFill>
            <a:srgbClr val="0B1829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938528"/>
            <a:ext cx="54864" cy="65836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025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2585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(gemini-2.5-flash) + sentence-transformers all-MiniLM-L6-v2 + FAISS IndexFlatL2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688336"/>
            <a:ext cx="5303520" cy="658368"/>
          </a:xfrm>
          <a:prstGeom prst="rect">
            <a:avLst/>
          </a:prstGeom>
          <a:solidFill>
            <a:srgbClr val="0B1829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2688336"/>
            <a:ext cx="54864" cy="65836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5234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0083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(finance.db transactions + users.db auth) via SQLAlchemy ORM with declarative Base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438144"/>
            <a:ext cx="5303520" cy="658368"/>
          </a:xfrm>
          <a:prstGeom prst="rect">
            <a:avLst/>
          </a:prstGeom>
          <a:solidFill>
            <a:srgbClr val="0B1829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3438144"/>
            <a:ext cx="54864" cy="6583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LAYER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7581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sessions + Google OAuth 2.0 + SHA-256 password hashing + smtplib transactional email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4187952"/>
            <a:ext cx="5303520" cy="658368"/>
          </a:xfrm>
          <a:prstGeom prst="rect">
            <a:avLst/>
          </a:prstGeom>
          <a:solidFill>
            <a:srgbClr val="0B182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4187952"/>
            <a:ext cx="54864" cy="65836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251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5079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Cloud (dual-process: React frontend + Python WebSocket backend on same server)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852160" y="1188720"/>
            <a:ext cx="3017520" cy="379476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0" y="12801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1691640"/>
            <a:ext cx="1239926" cy="274320"/>
          </a:xfrm>
          <a:prstGeom prst="rect">
            <a:avLst/>
          </a:prstGeom>
          <a:solidFill>
            <a:srgbClr val="0EA5E9">
              <a:alpha val="12000"/>
            </a:srgbClr>
          </a:solidFill>
          <a:ln w="1016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1691640"/>
            <a:ext cx="12399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3.11+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302398" y="1691640"/>
            <a:ext cx="1078992" cy="27432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02398" y="169164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 0.8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89320" y="2075688"/>
            <a:ext cx="998525" cy="274320"/>
          </a:xfrm>
          <a:prstGeom prst="rect">
            <a:avLst/>
          </a:prstGeom>
          <a:solidFill>
            <a:srgbClr val="A855F7">
              <a:alpha val="12000"/>
            </a:srgbClr>
          </a:solidFill>
          <a:ln w="10160">
            <a:solidFill>
              <a:srgbClr val="A855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2075688"/>
            <a:ext cx="998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CPU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60997" y="2075688"/>
            <a:ext cx="1561795" cy="274320"/>
          </a:xfrm>
          <a:prstGeom prst="rect">
            <a:avLst/>
          </a:prstGeom>
          <a:solidFill>
            <a:srgbClr val="7C3AED">
              <a:alpha val="12000"/>
            </a:srgbClr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60997" y="2075688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989320" y="2459736"/>
            <a:ext cx="1320394" cy="274320"/>
          </a:xfrm>
          <a:prstGeom prst="rect">
            <a:avLst/>
          </a:prstGeom>
          <a:solidFill>
            <a:srgbClr val="F59E0B">
              <a:alpha val="12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89320" y="2459736"/>
            <a:ext cx="1320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382866" y="2459736"/>
            <a:ext cx="1078992" cy="274320"/>
          </a:xfrm>
          <a:prstGeom prst="rect">
            <a:avLst/>
          </a:prstGeom>
          <a:solidFill>
            <a:srgbClr val="10B981">
              <a:alpha val="12000"/>
            </a:srgbClr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82866" y="24597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989320" y="2843784"/>
            <a:ext cx="1320394" cy="274320"/>
          </a:xfrm>
          <a:prstGeom prst="rect">
            <a:avLst/>
          </a:prstGeom>
          <a:solidFill>
            <a:srgbClr val="64748B">
              <a:alpha val="12000"/>
            </a:srgbClr>
          </a:solidFill>
          <a:ln w="10160">
            <a:solidFill>
              <a:srgbClr val="6474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89320" y="2843784"/>
            <a:ext cx="1320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python-dotenv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382866" y="2843784"/>
            <a:ext cx="676656" cy="274320"/>
          </a:xfrm>
          <a:prstGeom prst="rect">
            <a:avLst/>
          </a:prstGeom>
          <a:solidFill>
            <a:srgbClr val="0EA5E9">
              <a:alpha val="12000"/>
            </a:srgbClr>
          </a:solidFill>
          <a:ln w="10160">
            <a:solidFill>
              <a:srgbClr val="0EA5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82866" y="2843784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httpx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989320" y="3227832"/>
            <a:ext cx="1239926" cy="274320"/>
          </a:xfrm>
          <a:prstGeom prst="rect">
            <a:avLst/>
          </a:prstGeom>
          <a:solidFill>
            <a:srgbClr val="EF4444">
              <a:alpha val="12000"/>
            </a:srgbClr>
          </a:solidFill>
          <a:ln w="10160">
            <a:solidFill>
              <a:srgbClr val="EF44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89320" y="3227832"/>
            <a:ext cx="12399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SHA-256+Salt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302398" y="3227832"/>
            <a:ext cx="837590" cy="27432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02398" y="3227832"/>
            <a:ext cx="8375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smtplib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989320" y="3611880"/>
            <a:ext cx="1561795" cy="274320"/>
          </a:xfrm>
          <a:prstGeom prst="rect">
            <a:avLst/>
          </a:prstGeom>
          <a:solidFill>
            <a:srgbClr val="10B981">
              <a:alpha val="12000"/>
            </a:srgbClr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89320" y="361188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OAuth 2.0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624267" y="3611880"/>
            <a:ext cx="676656" cy="274320"/>
          </a:xfrm>
          <a:prstGeom prst="rect">
            <a:avLst/>
          </a:prstGeom>
          <a:solidFill>
            <a:srgbClr val="A855F7">
              <a:alpha val="12000"/>
            </a:srgbClr>
          </a:solidFill>
          <a:ln w="10160">
            <a:solidFill>
              <a:srgbClr val="A855F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624267" y="3611880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989320" y="3995928"/>
            <a:ext cx="1964131" cy="274320"/>
          </a:xfrm>
          <a:prstGeom prst="rect">
            <a:avLst/>
          </a:prstGeom>
          <a:solidFill>
            <a:srgbClr val="F59E0B">
              <a:alpha val="12000"/>
            </a:srgbClr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89320" y="3995928"/>
            <a:ext cx="19641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secrets.token_urlsafe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989320" y="4379976"/>
            <a:ext cx="1239926" cy="27432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89320" y="4379976"/>
            <a:ext cx="12399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 Cloud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Layered intelligence platform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8595360" cy="521208"/>
          </a:xfrm>
          <a:prstGeom prst="rect">
            <a:avLst/>
          </a:prstGeom>
          <a:solidFill>
            <a:srgbClr val="0B1829"/>
          </a:solidFill>
          <a:ln w="15240">
            <a:solidFill>
              <a:srgbClr val="00C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43000"/>
            <a:ext cx="73152" cy="521208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795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1179576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Navika.py (Reflex)  •  login_page.py  •  auth_state.py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1179576"/>
            <a:ext cx="27432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8"/>
          <p:cNvSpPr/>
          <p:nvPr/>
        </p:nvSpPr>
        <p:spPr>
          <a:xfrm>
            <a:off x="274320" y="1801368"/>
            <a:ext cx="8595360" cy="521208"/>
          </a:xfrm>
          <a:prstGeom prst="rect">
            <a:avLst/>
          </a:prstGeom>
          <a:solidFill>
            <a:srgbClr val="0B1829"/>
          </a:solidFill>
          <a:ln w="15240">
            <a:solidFill>
              <a:srgbClr val="A85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801368"/>
            <a:ext cx="73152" cy="52120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3794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LAYER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837944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rag_engine.py (FAISS + SentenceTransformer + Gemini API)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51760" y="1837944"/>
            <a:ext cx="27432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74320" y="2459736"/>
            <a:ext cx="8595360" cy="521208"/>
          </a:xfrm>
          <a:prstGeom prst="rect">
            <a:avLst/>
          </a:prstGeom>
          <a:solidFill>
            <a:srgbClr val="0B1829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459736"/>
            <a:ext cx="73152" cy="5212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963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LAYER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834640" y="249631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analytics.py (NumPy z-score anomaly detection)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51760" y="2496312"/>
            <a:ext cx="27432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3118104"/>
            <a:ext cx="8595360" cy="521208"/>
          </a:xfrm>
          <a:prstGeom prst="rect">
            <a:avLst/>
          </a:prstGeom>
          <a:solidFill>
            <a:srgbClr val="0B1829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118104"/>
            <a:ext cx="73152" cy="5212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1546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LAYER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34640" y="315468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auth_db.py  •  email_service.py  •  auth_state.py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651760" y="3154680"/>
            <a:ext cx="27432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" name="Shape 23"/>
          <p:cNvSpPr/>
          <p:nvPr/>
        </p:nvSpPr>
        <p:spPr>
          <a:xfrm>
            <a:off x="274320" y="3776472"/>
            <a:ext cx="8595360" cy="521208"/>
          </a:xfrm>
          <a:prstGeom prst="rect">
            <a:avLst/>
          </a:prstGeom>
          <a:solidFill>
            <a:srgbClr val="0B1829"/>
          </a:solidFill>
          <a:ln w="15240">
            <a:solidFill>
              <a:srgbClr val="0EA5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776472"/>
            <a:ext cx="73152" cy="52120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8130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81304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(finance.db)  •  auth_db.py (users.db)  •  vector_store.py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651760" y="3813048"/>
            <a:ext cx="27432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0" name="Shape 28"/>
          <p:cNvSpPr/>
          <p:nvPr/>
        </p:nvSpPr>
        <p:spPr>
          <a:xfrm>
            <a:off x="274320" y="4572000"/>
            <a:ext cx="8595360" cy="475488"/>
          </a:xfrm>
          <a:prstGeom prst="rect">
            <a:avLst/>
          </a:prstGeom>
          <a:solidFill>
            <a:srgbClr val="0D1B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663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DATABASES: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645920" y="4645152"/>
            <a:ext cx="2103120" cy="329184"/>
          </a:xfrm>
          <a:prstGeom prst="rect">
            <a:avLst/>
          </a:prstGeom>
          <a:solidFill>
            <a:srgbClr val="0F2035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45920" y="46451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finance.db  ·  transaction storage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023360" y="4645152"/>
            <a:ext cx="2103120" cy="329184"/>
          </a:xfrm>
          <a:prstGeom prst="rect">
            <a:avLst/>
          </a:prstGeom>
          <a:solidFill>
            <a:srgbClr val="0F2035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23360" y="46451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users.db  ·  auth &amp; sessions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00800" y="4645152"/>
            <a:ext cx="2103120" cy="329184"/>
          </a:xfrm>
          <a:prstGeom prst="rect">
            <a:avLst/>
          </a:prstGeom>
          <a:solidFill>
            <a:srgbClr val="0F2035"/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46451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  ·  in-memory vectors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SYSTEM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Production-grade security, zero compromise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788920" cy="2743200"/>
          </a:xfrm>
          <a:prstGeom prst="rect">
            <a:avLst/>
          </a:prstGeom>
          <a:solidFill>
            <a:srgbClr val="0B1829"/>
          </a:solidFill>
          <a:ln w="19050">
            <a:solidFill>
              <a:srgbClr val="00C4E8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2788920" cy="54864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2618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/ Password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423160" cy="27432"/>
          </a:xfrm>
          <a:prstGeom prst="rect">
            <a:avLst/>
          </a:prstGeom>
          <a:solidFill>
            <a:srgbClr val="00C4E8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810512"/>
            <a:ext cx="201168" cy="201168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105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account → SHA-256 hash (random salt)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67712"/>
            <a:ext cx="201168" cy="201168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2677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22219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24-hour email verification token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24912"/>
            <a:ext cx="201168" cy="201168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249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6791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link → verified → session created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182112"/>
            <a:ext cx="201168" cy="201168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1821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31363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JWT session token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27832" y="1143000"/>
            <a:ext cx="2788920" cy="2743200"/>
          </a:xfrm>
          <a:prstGeom prst="rect">
            <a:avLst/>
          </a:prstGeom>
          <a:solidFill>
            <a:srgbClr val="0B1829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27832" y="1143000"/>
            <a:ext cx="27889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3227832" y="12618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OAuth 2.0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410712" y="1627632"/>
            <a:ext cx="2423160" cy="27432"/>
          </a:xfrm>
          <a:prstGeom prst="rect">
            <a:avLst/>
          </a:prstGeom>
          <a:solidFill>
            <a:srgbClr val="10B981">
              <a:alpha val="3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10712" y="1810512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18105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85032" y="17647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Google → OAuth consent screen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10712" y="2267712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3410712" y="22677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85032" y="22219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code → access token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10712" y="2724912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3410712" y="27249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85032" y="26791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Google profile (name, email, avatar)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10712" y="3182112"/>
            <a:ext cx="201168" cy="20116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3410712" y="31821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85032" y="31363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verify → session created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81344" y="1143000"/>
            <a:ext cx="2788920" cy="2743200"/>
          </a:xfrm>
          <a:prstGeom prst="rect">
            <a:avLst/>
          </a:prstGeom>
          <a:solidFill>
            <a:srgbClr val="0B1829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81344" y="1143000"/>
            <a:ext cx="27889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6181344" y="12618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Reset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64224" y="1627632"/>
            <a:ext cx="2423160" cy="27432"/>
          </a:xfrm>
          <a:prstGeom prst="rect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364224" y="181051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6364224" y="18105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38544" y="17647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email → 1-hour reset token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64224" y="226771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5" name="Text 43"/>
          <p:cNvSpPr/>
          <p:nvPr/>
        </p:nvSpPr>
        <p:spPr>
          <a:xfrm>
            <a:off x="6364224" y="22677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638544" y="22219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HTML email with secure link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364224" y="272491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8" name="Text 46"/>
          <p:cNvSpPr/>
          <p:nvPr/>
        </p:nvSpPr>
        <p:spPr>
          <a:xfrm>
            <a:off x="6364224" y="27249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38544" y="26791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/reset-password?token= → validate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64224" y="318211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1" name="Text 49"/>
          <p:cNvSpPr/>
          <p:nvPr/>
        </p:nvSpPr>
        <p:spPr>
          <a:xfrm>
            <a:off x="6364224" y="31821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38544" y="31363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SHA-256 hash → security alert email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4069080"/>
            <a:ext cx="8595360" cy="777240"/>
          </a:xfrm>
          <a:prstGeom prst="rect">
            <a:avLst/>
          </a:prstGeom>
          <a:solidFill>
            <a:srgbClr val="0D1B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14223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EMAILS: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560320" y="4142232"/>
            <a:ext cx="1188720" cy="22860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60320" y="41422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Email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840480" y="4142232"/>
            <a:ext cx="1188720" cy="22860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40480" y="41422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Email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120640" y="4142232"/>
            <a:ext cx="1188720" cy="22860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20640" y="41422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Reset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400800" y="4142232"/>
            <a:ext cx="1188720" cy="22860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00800" y="41422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Confirmation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80960" y="4142232"/>
            <a:ext cx="1188720" cy="228600"/>
          </a:xfrm>
          <a:prstGeom prst="rect">
            <a:avLst/>
          </a:prstGeom>
          <a:solidFill>
            <a:srgbClr val="00C4E8">
              <a:alpha val="12000"/>
            </a:srgbClr>
          </a:solidFill>
          <a:ln w="10160">
            <a:solidFill>
              <a:srgbClr val="00C4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80960" y="41422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Welcome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57200" y="44074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emails include branded HTML templates with Navika styling, personalized name, and fallback terminal output in dev mode.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&amp; PERFORMANCE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 metrics, real results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1993392" cy="1463040"/>
          </a:xfrm>
          <a:prstGeom prst="rect">
            <a:avLst/>
          </a:prstGeom>
          <a:solidFill>
            <a:srgbClr val="0B1829"/>
          </a:solidFill>
          <a:ln w="19050">
            <a:solidFill>
              <a:srgbClr val="00C4E8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1993392" cy="54864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32588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74320" y="1828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237744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retrieval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50592" y="1143000"/>
            <a:ext cx="1993392" cy="1463040"/>
          </a:xfrm>
          <a:prstGeom prst="rect">
            <a:avLst/>
          </a:prstGeom>
          <a:solidFill>
            <a:srgbClr val="0B1829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1143000"/>
            <a:ext cx="1993392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2450592" y="132588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0.81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450592" y="1828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Score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237744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6864" y="1143000"/>
            <a:ext cx="1993392" cy="1463040"/>
          </a:xfrm>
          <a:prstGeom prst="rect">
            <a:avLst/>
          </a:prstGeom>
          <a:solidFill>
            <a:srgbClr val="0B1829"/>
          </a:solidFill>
          <a:ln w="1905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143000"/>
            <a:ext cx="1993392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4626864" y="132588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626864" y="1828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Hit@1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26864" y="237744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category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accuracy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03136" y="1143000"/>
            <a:ext cx="1993392" cy="1463040"/>
          </a:xfrm>
          <a:prstGeom prst="rect">
            <a:avLst/>
          </a:prstGeom>
          <a:solidFill>
            <a:srgbClr val="0B1829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03136" y="1143000"/>
            <a:ext cx="1993392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32588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~97%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803136" y="182880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Parse Rate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03136" y="237744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structured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success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926080"/>
            <a:ext cx="5120640" cy="192024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017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TIMINGS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33375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cold start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651760" y="3337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20–45 sec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611880" y="333756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download (once)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611880"/>
            <a:ext cx="5120640" cy="292608"/>
          </a:xfrm>
          <a:prstGeom prst="rect">
            <a:avLst/>
          </a:prstGeom>
          <a:solidFill>
            <a:srgbClr val="0D1B35"/>
          </a:solidFill>
          <a:ln/>
        </p:spPr>
      </p:sp>
      <p:sp>
        <p:nvSpPr>
          <p:cNvPr id="31" name="Text 29"/>
          <p:cNvSpPr/>
          <p:nvPr/>
        </p:nvSpPr>
        <p:spPr>
          <a:xfrm>
            <a:off x="411480" y="36301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warm start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651760" y="3630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1 sec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611880" y="36301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RAM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11480" y="3922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search (1000 vectors)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651760" y="39227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1 ms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11880" y="392277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L2 search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4197096"/>
            <a:ext cx="5120640" cy="292608"/>
          </a:xfrm>
          <a:prstGeom prst="rect">
            <a:avLst/>
          </a:prstGeom>
          <a:solidFill>
            <a:srgbClr val="0D1B35"/>
          </a:solidFill>
          <a:ln/>
        </p:spPr>
      </p:sp>
      <p:sp>
        <p:nvSpPr>
          <p:cNvPr id="38" name="Text 36"/>
          <p:cNvSpPr/>
          <p:nvPr/>
        </p:nvSpPr>
        <p:spPr>
          <a:xfrm>
            <a:off x="411480" y="421538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rag_answer() call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651760" y="4215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3–7 sec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611880" y="421538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Dominated by Gemini API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11480" y="45079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651760" y="4507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5 ms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611880" y="45079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NumPy operation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0" y="2926080"/>
            <a:ext cx="3200400" cy="192024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0" y="30175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MODEL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806440" y="33375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995160" y="33375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all-MiniLM-L6-v2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806440" y="35844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Dimensions: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995160" y="358444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384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806440" y="383133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SBERT STSb: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995160" y="38313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0.844 Spearman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806440" y="407822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995160" y="407822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22M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806440" y="432511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995160" y="43251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~80 MB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806440" y="45720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Speed: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995160" y="45720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 sent/sec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SECURITY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Privacy-first architecture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114800" cy="320040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SCHEMAS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39319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6916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finance.db — transactions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9476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merchant, category, amount, timestamp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2340864"/>
            <a:ext cx="39319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43230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users.db — users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6883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email, name, password_hash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9077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google_id, is_verified, avatar_url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3300984"/>
            <a:ext cx="3931920" cy="54864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39242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users.db — user_sessions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6484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id, user_id, token, expires_at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4041648"/>
            <a:ext cx="3931920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4133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users.db — tokens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43891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EmailVerificationToken, PasswordResetToken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460857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(token, user_id, expires_at, used)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206240" cy="320040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MEASURES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1664208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5010912" y="162763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Hashing: 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09360" y="162763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+ random 16-byte salt. Format: salt:hash. Never stored plaintext.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2002536"/>
            <a:ext cx="182880" cy="182880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27" name="Text 25"/>
          <p:cNvSpPr/>
          <p:nvPr/>
        </p:nvSpPr>
        <p:spPr>
          <a:xfrm>
            <a:off x="5010912" y="19659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Security: 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09360" y="19659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secrets.token_urlsafe(48) — 384 bits of entropy per token.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340864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5010912" y="23042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Expiry: 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09360" y="230428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24h  •  Reset: 1h  •  Session: 30d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2679192"/>
            <a:ext cx="182880" cy="182880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33" name="Text 31"/>
          <p:cNvSpPr/>
          <p:nvPr/>
        </p:nvSpPr>
        <p:spPr>
          <a:xfrm>
            <a:off x="5010912" y="264261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Reuse Block: 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09360" y="2642616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used=True set atomically; each token works exactly once.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3017520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5010912" y="298094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Injection: 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09360" y="298094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via SQLAlchemy ORM — zero raw string formatting.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3355848"/>
            <a:ext cx="182880" cy="182880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39" name="Text 37"/>
          <p:cNvSpPr/>
          <p:nvPr/>
        </p:nvSpPr>
        <p:spPr>
          <a:xfrm>
            <a:off x="5010912" y="33192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Protection: 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309360" y="331927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WebSocket architecture inherently prevents CSRF attacks.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54880" y="369417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5010912" y="3657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DB Isolation: 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309360" y="365760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finance.db and users.db are completely separate files.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54880" y="4032504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5" name="Text 43"/>
          <p:cNvSpPr/>
          <p:nvPr/>
        </p:nvSpPr>
        <p:spPr>
          <a:xfrm>
            <a:off x="5010912" y="39959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 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309360" y="39959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by Reflex Cloud TLS termination on deployment.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4480560"/>
            <a:ext cx="8595360" cy="384048"/>
          </a:xfrm>
          <a:prstGeom prst="rect">
            <a:avLst/>
          </a:prstGeom>
          <a:solidFill>
            <a:srgbClr val="0D1B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544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NEVER commit to GitHub: .env  •  finance.db  •  users.db  •  venv/  •  __pycache__/  (all in .gitignore)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at navika-gold-book.reflex.run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389120" cy="3063240"/>
          </a:xfrm>
          <a:prstGeom prst="rect">
            <a:avLst/>
          </a:prstGeom>
          <a:solidFill>
            <a:srgbClr val="0B1829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COMPARISON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09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 Cloud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65960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CHOSEN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1609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Dual-process native; free hobby tier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956816"/>
            <a:ext cx="4389120" cy="420624"/>
          </a:xfrm>
          <a:prstGeom prst="rect">
            <a:avLst/>
          </a:prstGeom>
          <a:solidFill>
            <a:srgbClr val="0D1B3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29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65960" y="20299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Paid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2029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Docker, paid tier required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4505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965960" y="2450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Spins down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08960" y="24505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dies after 15min idle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98064"/>
            <a:ext cx="4389120" cy="420624"/>
          </a:xfrm>
          <a:prstGeom prst="rect">
            <a:avLst/>
          </a:prstGeom>
          <a:solidFill>
            <a:srgbClr val="0D1B3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712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Vercel/Netlify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965960" y="2871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No Python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08960" y="28712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Static/Node.js only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32918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965960" y="32918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Static only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108960" y="32918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run Python backend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3639312"/>
            <a:ext cx="4389120" cy="420624"/>
          </a:xfrm>
          <a:prstGeom prst="rect">
            <a:avLst/>
          </a:prstGeom>
          <a:solidFill>
            <a:srgbClr val="0D1B35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7124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DigitalOcean VPS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965960" y="37124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$6/mo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08960" y="37124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but requires manual server setup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37760" y="1097280"/>
            <a:ext cx="3931920" cy="3063240"/>
          </a:xfrm>
          <a:prstGeom prst="rect">
            <a:avLst/>
          </a:prstGeom>
          <a:solidFill>
            <a:srgbClr val="0B182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IN 3 COMMANDS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74920" y="1627632"/>
            <a:ext cx="274320" cy="274320"/>
          </a:xfrm>
          <a:prstGeom prst="ellipse">
            <a:avLst/>
          </a:prstGeom>
          <a:solidFill>
            <a:srgbClr val="00C4E8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627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40680" y="1572768"/>
            <a:ext cx="3246120" cy="384048"/>
          </a:xfrm>
          <a:prstGeom prst="rect">
            <a:avLst/>
          </a:prstGeom>
          <a:solidFill>
            <a:srgbClr val="0D1B35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0" y="16276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reflex-cloud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74920" y="2066544"/>
            <a:ext cx="274320" cy="27432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35" name="Text 33"/>
          <p:cNvSpPr/>
          <p:nvPr/>
        </p:nvSpPr>
        <p:spPr>
          <a:xfrm>
            <a:off x="5074920" y="2066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40680" y="2011680"/>
            <a:ext cx="3246120" cy="384048"/>
          </a:xfrm>
          <a:prstGeom prst="rect">
            <a:avLst/>
          </a:prstGeom>
          <a:solidFill>
            <a:srgbClr val="0D1B35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0" y="206654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5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reflex login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74920" y="2505456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5074920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40680" y="2450592"/>
            <a:ext cx="3246120" cy="384048"/>
          </a:xfrm>
          <a:prstGeom prst="rect">
            <a:avLst/>
          </a:prstGeom>
          <a:solidFill>
            <a:srgbClr val="0D1B35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0" y="250545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reflex deploy --env GEMINI_API_KEY=...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Reflex Cloud?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29200" y="3127248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apps require TWO simultaneous processes: a compiled React frontend and a Python WebSocket backend. Only Reflex Cloud handles this dual-process architecture correctly with automatic routing, TLS, and free hobby tier.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74320" y="4297680"/>
            <a:ext cx="8595360" cy="502920"/>
          </a:xfrm>
          <a:prstGeom prst="rect">
            <a:avLst/>
          </a:prstGeom>
          <a:solidFill>
            <a:srgbClr val="0B1829"/>
          </a:solidFill>
          <a:ln w="19050">
            <a:solidFill>
              <a:srgbClr val="00C4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407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LIVE AT: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2024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navika-gold-book.reflex.run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26480" y="44074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github.com/Nitanshu715/Navika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ALIGNMENT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Hack For Green Bharat — FinTech AI Track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594360"/>
          </a:xfrm>
          <a:prstGeom prst="rect">
            <a:avLst/>
          </a:prstGeom>
          <a:solidFill>
            <a:srgbClr val="0B1829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73152" cy="59436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#4: RAG-Driven Personal Finance Assistants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4264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a GenAI assistant for banking that uses RAG to answer financial questions from user transaction data."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874520"/>
            <a:ext cx="8595360" cy="402336"/>
          </a:xfrm>
          <a:prstGeom prst="rect">
            <a:avLst/>
          </a:prstGeom>
          <a:solidFill>
            <a:srgbClr val="0B1829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47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RAG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194767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+ SentenceTransformer + Gemini. Retrieves user's actual transaction context before every query.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350008"/>
            <a:ext cx="8595360" cy="402336"/>
          </a:xfrm>
          <a:prstGeom prst="rect">
            <a:avLst/>
          </a:prstGeom>
          <a:solidFill>
            <a:srgbClr val="0F2035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231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Grounded AI Answers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834640" y="2423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enforces 'Only use the data below. Never invent numbers.' — zero hallucination.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825496"/>
            <a:ext cx="8595360" cy="402336"/>
          </a:xfrm>
          <a:prstGeom prst="rect">
            <a:avLst/>
          </a:prstGeom>
          <a:solidFill>
            <a:srgbClr val="0B1829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986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User Transaction Data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289864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finance.db stores all transactions. FAISS index built from real user data.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300984"/>
            <a:ext cx="8595360" cy="402336"/>
          </a:xfrm>
          <a:prstGeom prst="rect">
            <a:avLst/>
          </a:prstGeom>
          <a:solidFill>
            <a:srgbClr val="0F2035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74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Risk Analysis Output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34640" y="337413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JSON: risk_level, main_issue, key_observations[], recommended_actions[].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3776472"/>
            <a:ext cx="8595360" cy="402336"/>
          </a:xfrm>
          <a:prstGeom prst="rect">
            <a:avLst/>
          </a:prstGeom>
          <a:solidFill>
            <a:srgbClr val="0B1829"/>
          </a:solidFill>
          <a:ln w="1016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496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Full-Stack Platform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384962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 dashboard, anomaly detection, auth system — not just a chatbot.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4251960"/>
            <a:ext cx="8595360" cy="402336"/>
          </a:xfrm>
          <a:prstGeom prst="rect">
            <a:avLst/>
          </a:prstGeom>
          <a:solidFill>
            <a:srgbClr val="0F2035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325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Pathway Integration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834640" y="432511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FAISS + SQLite. Roadmap v1.2: Pathway pw.demo.range_stream() for real-time streaming.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 for Navika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7680960" cy="36576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Shape 4"/>
          <p:cNvSpPr/>
          <p:nvPr/>
        </p:nvSpPr>
        <p:spPr>
          <a:xfrm>
            <a:off x="621792" y="2487168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960120"/>
            <a:ext cx="1828800" cy="1463040"/>
          </a:xfrm>
          <a:prstGeom prst="rect">
            <a:avLst/>
          </a:prstGeom>
          <a:solidFill>
            <a:srgbClr val="0B1829"/>
          </a:solidFill>
          <a:ln w="1524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033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v1.0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289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68680" y="1490472"/>
            <a:ext cx="1554480" cy="27432"/>
          </a:xfrm>
          <a:prstGeom prst="rect">
            <a:avLst/>
          </a:prstGeom>
          <a:solidFill>
            <a:srgbClr val="10B981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56362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RAG Pipeline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22960" y="17647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5-Tab Dashboard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" y="1965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Auth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2960" y="21671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Anomaly Detection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22960" y="23682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Deployed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24912" y="2487168"/>
            <a:ext cx="256032" cy="256032"/>
          </a:xfrm>
          <a:prstGeom prst="ellipse">
            <a:avLst/>
          </a:prstGeom>
          <a:solidFill>
            <a:srgbClr val="00C4E8"/>
          </a:solidFill>
          <a:ln w="12700">
            <a:solidFill>
              <a:srgbClr val="00C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4640" y="2926080"/>
            <a:ext cx="1828800" cy="1508760"/>
          </a:xfrm>
          <a:prstGeom prst="rect">
            <a:avLst/>
          </a:prstGeom>
          <a:solidFill>
            <a:srgbClr val="0B1829"/>
          </a:solidFill>
          <a:ln w="15240">
            <a:solidFill>
              <a:srgbClr val="00C4E8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83464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4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v1.1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34640" y="32552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971800" y="3456432"/>
            <a:ext cx="1554480" cy="27432"/>
          </a:xfrm>
          <a:prstGeom prst="rect">
            <a:avLst/>
          </a:prstGeom>
          <a:solidFill>
            <a:srgbClr val="00C4E8">
              <a:alpha val="3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2926080" y="35295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Per-user transaction isolation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926080" y="373075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Persistent FAISS index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926080" y="39319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goals system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28032" y="2487168"/>
            <a:ext cx="256032" cy="25603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37760" y="960120"/>
            <a:ext cx="1828800" cy="1463040"/>
          </a:xfrm>
          <a:prstGeom prst="rect">
            <a:avLst/>
          </a:prstGeom>
          <a:solidFill>
            <a:srgbClr val="0B1829"/>
          </a:solidFill>
          <a:ln w="15240">
            <a:solidFill>
              <a:srgbClr val="A855F7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937760" y="1033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v1.2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937760" y="1289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74920" y="1490472"/>
            <a:ext cx="1554480" cy="27432"/>
          </a:xfrm>
          <a:prstGeom prst="rect">
            <a:avLst/>
          </a:prstGeom>
          <a:solidFill>
            <a:srgbClr val="A855F7">
              <a:alpha val="3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156362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Pathway real-time streaming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0" y="176479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BM25 hybrid retrieval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029200" y="1965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PostgreSQL migration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931152" y="2487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40880" y="2926080"/>
            <a:ext cx="1828800" cy="1508760"/>
          </a:xfrm>
          <a:prstGeom prst="rect">
            <a:avLst/>
          </a:prstGeom>
          <a:solidFill>
            <a:srgbClr val="0B1829"/>
          </a:solidFill>
          <a:ln w="15240">
            <a:solidFill>
              <a:srgbClr val="F59E0B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04088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v2.0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040880" y="32552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Q3-Q4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78040" y="3456432"/>
            <a:ext cx="1554480" cy="27432"/>
          </a:xfrm>
          <a:prstGeom prst="rect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7132320" y="35295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Bank statement PDF import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132320" y="373075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Spending predictions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132320" y="39319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Mobile responsive UI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914400"/>
            <a:ext cx="5486400" cy="5486400"/>
          </a:xfrm>
          <a:prstGeom prst="ellipse">
            <a:avLst/>
          </a:prstGeom>
          <a:solidFill>
            <a:srgbClr val="00C4E8">
              <a:alpha val="5000"/>
            </a:srgbClr>
          </a:solidFill>
          <a:ln w="6350">
            <a:solidFill>
              <a:srgbClr val="00C4E8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1828800"/>
            <a:ext cx="4572000" cy="4572000"/>
          </a:xfrm>
          <a:prstGeom prst="ellipse">
            <a:avLst/>
          </a:prstGeom>
          <a:solidFill>
            <a:srgbClr val="7C3AED">
              <a:alpha val="5000"/>
            </a:srgbClr>
          </a:solidFill>
          <a:ln w="6350">
            <a:solidFill>
              <a:srgbClr val="7C3AED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C4E8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0" y="45720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◈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1691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kern="0" spc="800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NAVIKA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1371600" y="248716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00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finances, finally understood.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86000" y="2971800"/>
            <a:ext cx="4572000" cy="2743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154680"/>
            <a:ext cx="2606040" cy="868680"/>
          </a:xfrm>
          <a:prstGeom prst="rect">
            <a:avLst/>
          </a:prstGeom>
          <a:solidFill>
            <a:srgbClr val="0B1829"/>
          </a:solidFill>
          <a:ln w="12700">
            <a:solidFill>
              <a:srgbClr val="00C4E8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 Try It Live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5478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navika-gold-book.reflex.run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91840" y="3154680"/>
            <a:ext cx="2606040" cy="868680"/>
          </a:xfrm>
          <a:prstGeom prst="rect">
            <a:avLst/>
          </a:prstGeom>
          <a:solidFill>
            <a:srgbClr val="0B1829"/>
          </a:solidFill>
          <a:ln w="12700">
            <a:solidFill>
              <a:srgbClr val="A855F7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9184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 View Source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35478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github.com/Nitanshu715/Navika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3154680"/>
            <a:ext cx="2606040" cy="868680"/>
          </a:xfrm>
          <a:prstGeom prst="rect">
            <a:avLst/>
          </a:prstGeom>
          <a:solidFill>
            <a:srgbClr val="0B1829"/>
          </a:solidFill>
          <a:ln w="1270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Collaborate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35478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contributions &amp; partnerships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352398" y="4251960"/>
            <a:ext cx="769925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52398" y="4251960"/>
            <a:ext cx="7699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13762" y="4251960"/>
            <a:ext cx="769925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13762" y="4251960"/>
            <a:ext cx="7699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075127" y="4251960"/>
            <a:ext cx="694944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75127" y="4251960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861511" y="4251960"/>
            <a:ext cx="769925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61511" y="4251960"/>
            <a:ext cx="7699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22876" y="4251960"/>
            <a:ext cx="1069848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22876" y="4251960"/>
            <a:ext cx="1069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884164" y="4251960"/>
            <a:ext cx="1219810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84164" y="4251960"/>
            <a:ext cx="1219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OAuth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195414" y="4251960"/>
            <a:ext cx="1144829" cy="2560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95414" y="4251960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Hack For Green Bharat  •  RAG-Driven Personal Finance Assistants Track  •  2025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1813</Words>
  <Application>Microsoft Office PowerPoint</Application>
  <PresentationFormat>On-screen Show (16:9)</PresentationFormat>
  <Paragraphs>342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Navika — AI Finance Intelligence Platform</dc:title>
  <dc:subject>PptxGenJS Presentation</dc:subject>
  <dc:creator>Navika</dc:creator>
  <cp:lastModifiedBy>Nitanshu Tak</cp:lastModifiedBy>
  <cp:revision>3</cp:revision>
  <dcterms:created xsi:type="dcterms:W3CDTF">2026-02-26T11:17:08Z</dcterms:created>
  <dcterms:modified xsi:type="dcterms:W3CDTF">2026-03-01T10:38:35Z</dcterms:modified>
</cp:coreProperties>
</file>